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5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Georgia"/>
              </a:rPr>
              <a:t>HouseCheck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0">
                <a:solidFill>
                  <a:srgbClr val="CFD9E8"/>
                </a:solidFill>
                <a:latin typeface="Georgia"/>
              </a:rPr>
              <a:t>Data Integrity Review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800" b="0">
                <a:solidFill>
                  <a:srgbClr val="9FB0C8"/>
                </a:solidFill>
                <a:latin typeface="Calibri"/>
              </a:rPr>
              <a:t>Primary-source verification of two contested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800600"/>
            <a:ext cx="5669280" cy="45720"/>
          </a:xfrm>
          <a:prstGeom prst="rect">
            <a:avLst/>
          </a:prstGeom>
          <a:solidFill>
            <a:srgbClr val="B5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E6ECF4"/>
                </a:solidFill>
                <a:latin typeface="Georgia"/>
              </a:rPr>
              <a:t>Every number, traced back to the original government source.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00" b="0">
                <a:solidFill>
                  <a:srgbClr val="8A9BB5"/>
                </a:solidFill>
                <a:latin typeface="Calibri"/>
              </a:rPr>
              <a:t>Pursuit NYC Fellowship  ·  L2 Cycle 4  ·  July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Why this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A teammate challenged two claims in our build. We treat every challenge the same way we treat every statistic — by going back to the primary source.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The standard we hold ourselves to: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•  A claim survives only if it traces to an official source with a direct link.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•  The bar is TRUE, not merely persuasive. Where we were wrong, we say so plainly.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•  Conceding a fair challenge is not a weakness — it is the discipline that makes the whole product credible.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This deck: for each claim — what we said, what the source actually says, and what we corrected.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BOTTOM LINE UP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What we found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50215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3502152" cy="128016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299008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E7A46"/>
                </a:solidFill>
                <a:latin typeface="Georgia"/>
              </a:rPr>
              <a:t>1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Both challenges are correct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50" b="0">
                <a:solidFill>
                  <a:srgbClr val="3E4C59"/>
                </a:solidFill>
                <a:latin typeface="Calibri"/>
              </a:rPr>
              <a:t>We reviewed each against the primary source and adopted both corrections.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2011680"/>
            <a:ext cx="350215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011680"/>
            <a:ext cx="3502152" cy="128016"/>
          </a:xfrm>
          <a:prstGeom prst="rect">
            <a:avLst/>
          </a:prstGeom>
          <a:solidFill>
            <a:srgbClr val="B5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331720"/>
            <a:ext cx="299008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B5731A"/>
                </a:solidFill>
                <a:latin typeface="Georgia"/>
              </a:rPr>
              <a:t>2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One correction restores a real stat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50" b="0">
                <a:solidFill>
                  <a:srgbClr val="3E4C59"/>
                </a:solidFill>
                <a:latin typeface="Calibri"/>
              </a:rPr>
              <a:t>A figure we had wrongly dropped as 'fabricated' turns out to be genuine, citable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011680"/>
            <a:ext cx="350215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011680"/>
            <a:ext cx="3502152" cy="12801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331720"/>
            <a:ext cx="2990088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3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Everything else holds up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50" b="0">
                <a:solidFill>
                  <a:srgbClr val="3E4C59"/>
                </a:solidFill>
                <a:latin typeface="Calibri"/>
              </a:rPr>
              <a:t>All other claims verified, with a few minor label fixes. Integrity posture: strong.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DISPUTED CLAIM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The 761,352 buildings / “~11% Class C” figures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120640" cy="457200"/>
          </a:xfrm>
          <a:prstGeom prst="round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VERDICT: REAL DATA — the challenge is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B5731A"/>
                </a:solidFill>
                <a:latin typeface="Calibri"/>
              </a:rPr>
              <a:t>WHAT WE SAID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We flagged these figures as fabricated — attributed to a REBNY report that “contains no such number.”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1E7A46"/>
                </a:solidFill>
                <a:latin typeface="Calibri"/>
              </a:rPr>
              <a:t>WHAT THE SOURCE ACTUALLY SAYS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They appear VERBATIM in a real REBNY report — “Data Over Rhetoric” (REBNY Research, Feb 22 2026), published after our initial 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1B2A4A"/>
                </a:solidFill>
                <a:latin typeface="Calibri"/>
              </a:rPr>
              <a:t>WE OWN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54296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833"/>
                </a:solidFill>
                <a:latin typeface="Calibri"/>
              </a:rPr>
              <a:t>Our “fabricated” call was an absence-of-evidence error. We didn't invent a number — we wrongly deleted a real, powerful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3E4C59"/>
                </a:solidFill>
                <a:latin typeface="Calibri"/>
              </a:rPr>
              <a:t>Source:  rebny.com/reports/data-over-rhetoric-a-closer-look-at-housing-violations-evictions/  (fetched 2026-07-24)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DISPUTED CLAIM I —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Three distinct numbers, kept separate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88136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2651760" cy="1207008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56032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100" b="1">
                <a:solidFill>
                  <a:srgbClr val="1B2A4A"/>
                </a:solidFill>
                <a:latin typeface="Georgia"/>
              </a:rPr>
              <a:t>761,352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20824"/>
            <a:ext cx="7818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The full residential-building universe REBNY analyzes at the tax-lot (BBL)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088136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2651760" cy="1207008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256032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100" b="1">
                <a:solidFill>
                  <a:srgbClr val="1B2A4A"/>
                </a:solidFill>
                <a:latin typeface="Georgia"/>
              </a:rPr>
              <a:t>~11% Class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46704"/>
            <a:ext cx="7818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The complement of REBNY's “89% of the 761,352 buildings have no Class C violations over the past 24 months.”  (Class C = a violation SEVERITY, not a building class.)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17720"/>
            <a:ext cx="1088136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2651760" cy="1207008"/>
          </a:xfrm>
          <a:prstGeom prst="rect">
            <a:avLst/>
          </a:prstGeom>
          <a:solidFill>
            <a:srgbClr val="ED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2560320" cy="12070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sz="2100" b="1">
                <a:solidFill>
                  <a:srgbClr val="1B2A4A"/>
                </a:solidFill>
                <a:latin typeface="Georgia"/>
              </a:rPr>
              <a:t>10% → 80% /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672584"/>
            <a:ext cx="7818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Within the MULTIFAMILY subset of 91,918 buildings only: 10% of buildings account for 80% of evictions and 50% of violations. Do not conflate with the full universe.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3E4C59"/>
                </a:solidFill>
                <a:latin typeface="Calibri"/>
              </a:rPr>
              <a:t>Rule for the slide: quote “89% have no Class C” and derive the ~11%; keep the 91,918 multifamily finding labelled as a subset.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DISPUTED CLAIM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“HPD's violations table has no BBL column”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4754880" cy="457200"/>
          </a:xfrm>
          <a:prstGeom prst="roundRect">
            <a:avLst/>
          </a:prstGeom>
          <a:solidFill>
            <a:srgbClr val="B5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VERDICT: INCORRECT — we retract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B5731A"/>
                </a:solidFill>
                <a:latin typeface="Calibri"/>
              </a:rPr>
              <a:t>WHAT WE SAID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HPD's Housing Maintenance Code Violations table (wvxf-dwi5) has no BBL column, so we query by tax block and reconstruct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881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100" b="1">
                <a:solidFill>
                  <a:srgbClr val="1E7A46"/>
                </a:solidFill>
                <a:latin typeface="Calibri"/>
              </a:rPr>
              <a:t>WHAT IS ACTUALLY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833"/>
                </a:solidFill>
                <a:latin typeface="Calibri"/>
              </a:rPr>
              <a:t>wvxf-dwi5 has a NATIVE bbl column — schema position 40 of 41. Confirmed three ways: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104241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•  Schema metadata lists bbl at position 40  (…/api/views/wvxf-dwi5.json).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•  Live API values decompose correctly  (e.g. block 4654, lot 21 → bbl 2046540021).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222833"/>
                </a:solidFill>
                <a:latin typeface="Calibri"/>
              </a:rPr>
              <a:t>•  The CSV export header ends  …, bin, bbl, nta  — seen firsthand in our own live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50" b="0">
                <a:solidFill>
                  <a:srgbClr val="3E4C59"/>
                </a:solidFill>
                <a:latin typeface="Calibri"/>
              </a:rPr>
              <a:t>Source:  data.cityofnewyork.us/Housing-Development/Housing-Maintenance-Code-Violations/wvxf-dwi5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DISPUTED CLAIM II — 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How the error happened (so it can't repeat)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881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The likely mistake: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We almost certainly probed a single old row via  ?$limit=1.  Socrata OMITS null-valued keys from JSON, and the oldest (pre-2013) records predate BBL geocoding — so their bbl is empty and the key was simply missing from that one row.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B5731A"/>
                </a:solidFill>
                <a:latin typeface="Calibri"/>
              </a:rPr>
              <a:t>That is a data-vintage artifact, not a schema fact.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The bbl column exists and is populated for every geocoded record.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The fix: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Read the native bbl column directly. Our reconstruction (boro + block + lot) actually MATCHES the native value — so no incorrect data ever shipped; the code was just redundant.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FULL STACK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Every other headline claim —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82880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468880"/>
                <a:gridCol w="429768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source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51.6% rent-burdened / 28.8% severe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OK (label 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NYC Rent Guidelines Board, 2026 I&amp;A Study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~$1,761 stay-vs-move rent gap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Realtor.com, Q1 2026 (label as industry data)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~11.1M HPD violation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wvxf-dwi5 live count ≈ 11.13M (as-of 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FARE Act — eff. June 11, 2025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NYC DCWP announcement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Good Cause Eviction — Apr 20,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NYC HPD (NYC; opt-in elsewhere in NY)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311 = “2010–present”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B5731A"/>
                          </a:solidFill>
                          <a:latin typeface="Calibri"/>
                        </a:rPr>
                        <a:t>Corrected → 2020–present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erm2-nwe9 (2010–19 in 76ig-c548)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PLUTO / MapPLUTO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B5731A"/>
                          </a:solidFill>
                          <a:latin typeface="Calibri"/>
                        </a:rPr>
                        <a:t>Nuanced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64uk-42ks is PLUTO tabular, not MapPLUTO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All dataset IDs live &amp; correct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7A46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22833"/>
                          </a:solidFill>
                          <a:latin typeface="Calibri"/>
                        </a:rPr>
                        <a:t>NYC Open Data / data.ny.gov</a:t>
                      </a:r>
                    </a:p>
                  </a:txBody>
                  <a:tcPr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Corrections adopted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08813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761,352 / Class C — cite REBNY “Data Over Rhetoric”; “~11% of buildings have ≥1 Class C violation”; multifamily 91,918 → 10% / 80% / 50%.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HPD BBL — read the native bbl column; retract the “reconstruct from block/lot” line.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Rent burden — “51.6% rent-burdened (30%+), including 28.8% severe (50%+)”; drop “moderately.”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311 — “2020–present, ~21.9M records” (2010–19 history in 76ig-c548).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PLUTO — “PLUTO (tabular, 64uk-42ks)” unless lot geometry is used.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Good Cause — “effective Apr 20 2024 (in NYC; opt-in elsewhere in NY State).”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11.1M HPD records — label “total historical records” with an “as of {date}” stamp.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—  $1,761 gap — attribute to Realtor.com Q1 2026, not a government source.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B9C6D8"/>
                </a:solidFill>
                <a:latin typeface="Calibri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Two honest corrections — out of a fully sourced build.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2000" b="0">
                <a:solidFill>
                  <a:srgbClr val="CFD9E8"/>
                </a:solidFill>
                <a:latin typeface="Calibri"/>
              </a:rPr>
              <a:t>One of them restores a real statistic. Zero fabrications survived scrutiny.</a:t>
            </a:r>
          </a:p>
          <a:p>
            <a:pPr algn="l">
              <a:spcBef>
                <a:spcPts val="2400"/>
              </a:spcBef>
              <a:spcAft>
                <a:spcPts val="0"/>
              </a:spcAft>
            </a:pPr>
            <a:r>
              <a:rPr sz="1800" b="0">
                <a:solidFill>
                  <a:srgbClr val="9FB0C8"/>
                </a:solidFill>
                <a:latin typeface="Calibri"/>
              </a:rPr>
              <a:t>This is the process working as designed: challenge → primary source → correct in the open.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That discipline — every number traceable to a government record — is exactly what makes HouseCheck trustworthy.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1">
                <a:solidFill>
                  <a:srgbClr val="B5731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7665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000" b="1">
                <a:solidFill>
                  <a:srgbClr val="1B2A4A"/>
                </a:solidFill>
                <a:latin typeface="Georgia"/>
              </a:rPr>
              <a:t>Primary sources — direct links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0881360" cy="25400"/>
          </a:xfrm>
          <a:prstGeom prst="rect">
            <a:avLst/>
          </a:prstGeom>
          <a:solidFill>
            <a:srgbClr val="D7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HouseCheck  ·  Data Integrity Review  ·  July 24,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600"/>
              </a:spcBef>
              <a:spcAft>
                <a:spcPts val="0"/>
              </a:spcAft>
            </a:pPr>
            <a:r>
              <a:rPr sz="900" b="0">
                <a:solidFill>
                  <a:srgbClr val="6B7684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REBNY “Data Over Rhetoric” (761,352 / Class C) — </a:t>
            </a:r>
            <a:r>
              <a:rPr sz="1200">
                <a:solidFill>
                  <a:srgbClr val="3E4C59"/>
                </a:solidFill>
                <a:latin typeface="Calibri"/>
              </a:rPr>
              <a:t>rebny.com/reports/data-over-rhetoric-a-closer-look-at-housing-violations-evictions/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HPD violations schema (bbl at position 40) — </a:t>
            </a:r>
            <a:r>
              <a:rPr sz="1200">
                <a:solidFill>
                  <a:srgbClr val="3E4C59"/>
                </a:solidFill>
                <a:latin typeface="Calibri"/>
              </a:rPr>
              <a:t>data.cityofnewyork.us/api/views/wvxf-dwi5.json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HPD violations dataset page — </a:t>
            </a:r>
            <a:r>
              <a:rPr sz="1200">
                <a:solidFill>
                  <a:srgbClr val="3E4C59"/>
                </a:solidFill>
                <a:latin typeface="Calibri"/>
              </a:rPr>
              <a:t>data.cityofnewyork.us/Housing-Development/.../wvxf-dwi5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NYC Rent Guidelines Board 2026 Income &amp; Affordability Study — </a:t>
            </a:r>
            <a:r>
              <a:rPr sz="1200">
                <a:solidFill>
                  <a:srgbClr val="3E4C59"/>
                </a:solidFill>
                <a:latin typeface="Calibri"/>
              </a:rPr>
              <a:t>rentguidelinesboard.cityofnewyork.us/.../2026-IA.pdf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Stay-vs-move rent gap (Realtor.com via PRNewswire) — </a:t>
            </a:r>
            <a:r>
              <a:rPr sz="1200">
                <a:solidFill>
                  <a:srgbClr val="3E4C59"/>
                </a:solidFill>
                <a:latin typeface="Calibri"/>
              </a:rPr>
              <a:t>prnewswire.com/news-releases/nyc-rents-hit-new-high-…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FARE Act now in effect (NYC DCWP) — </a:t>
            </a:r>
            <a:r>
              <a:rPr sz="1200">
                <a:solidFill>
                  <a:srgbClr val="3E4C59"/>
                </a:solidFill>
                <a:latin typeface="Calibri"/>
              </a:rPr>
              <a:t>nyc.gov/site/dca/news/018-25/dcwp-the-fare-act-now-effect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Good Cause Eviction (NYC HPD) — </a:t>
            </a:r>
            <a:r>
              <a:rPr sz="1200">
                <a:solidFill>
                  <a:srgbClr val="3E4C59"/>
                </a:solidFill>
                <a:latin typeface="Calibri"/>
              </a:rPr>
              <a:t>nyc.gov/site/hpd/services-and-information/good-cause-eviction.page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HUD FY2026 Fair Market Rents (Federal Register) — </a:t>
            </a:r>
            <a:r>
              <a:rPr sz="1200">
                <a:solidFill>
                  <a:srgbClr val="3E4C59"/>
                </a:solidFill>
                <a:latin typeface="Calibri"/>
              </a:rPr>
              <a:t>federalregister.gov/documents/2025/08/22/2025-16060/…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B2A4A"/>
                </a:solidFill>
                <a:latin typeface="Calibri"/>
              </a:rPr>
              <a:t>311 Service Requests 2020–present / 2010–19 archive — </a:t>
            </a:r>
            <a:r>
              <a:rPr sz="1200">
                <a:solidFill>
                  <a:srgbClr val="3E4C59"/>
                </a:solidFill>
                <a:latin typeface="Calibri"/>
              </a:rPr>
              <a:t>data.cityofnewyork.us/d/erm2-nwe9  ·  /d/76ig-c548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